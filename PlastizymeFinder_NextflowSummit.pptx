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8"/>
    <p:sldId id="258" r:id="rId16"/>
    <p:sldId id="259" r:id="rId17"/>
    <p:sldId id="260" r:id="rId37"/>
    <p:sldId id="261" r:id="rId12"/>
    <p:sldId id="262" r:id="rId19"/>
    <p:sldId id="263" r:id="rId38"/>
    <p:sldId id="264" r:id="rId39"/>
    <p:sldId id="265" r:id="rId15"/>
    <p:sldId id="266" r:id="rId9"/>
    <p:sldId id="267" r:id="rId20"/>
  </p:sldIdLst>
  <p:sldSz cy="5143500" cx="9144000"/>
  <p:notesSz cx="6858000" cy="9144000"/>
  <p:embeddedFontLst>
    <p:embeddedFont>
      <p:font typeface="Inter SemiBold"/>
      <p:regular r:id="rId21"/>
      <p:bold r:id="rId22"/>
      <p:italic r:id="rId23"/>
      <p:boldItalic r:id="rId24"/>
    </p:embeddedFont>
    <p:embeddedFont>
      <p:font typeface="Inter Light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Light-bold.fntdata"/><Relationship Id="rId25" Type="http://schemas.openxmlformats.org/officeDocument/2006/relationships/font" Target="fonts/InterLight-regular.fntdata"/><Relationship Id="rId28" Type="http://schemas.openxmlformats.org/officeDocument/2006/relationships/font" Target="fonts/InterLight-boldItalic.fntdata"/><Relationship Id="rId27" Type="http://schemas.openxmlformats.org/officeDocument/2006/relationships/font" Target="fonts/Inter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33" Type="http://schemas.openxmlformats.org/officeDocument/2006/relationships/font" Target="fonts/RobotoMono-regular.fntdata"/><Relationship Id="rId32" Type="http://schemas.openxmlformats.org/officeDocument/2006/relationships/font" Target="fonts/Inter-boldItalic.fntdata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  <Relationship Id="rId37" Type="http://schemas.openxmlformats.org/officeDocument/2006/relationships/slide" Target="slides/slide16.xml"/>
  <Relationship Id="rId38" Type="http://schemas.openxmlformats.org/officeDocument/2006/relationships/slide" Target="slides/slide17.xml"/>
  <Relationship Id="rId39" Type="http://schemas.openxmlformats.org/officeDocument/2006/relationships/slide" Target="slides/slide18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21978262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21978262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21978262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21978262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21978262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21978262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21978262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21978262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21978262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21978262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219782620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219782620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219782620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d219782620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219782620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219782620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jpg"/><Relationship Id="rId6" Type="http://schemas.openxmlformats.org/officeDocument/2006/relationships/image" Target="../media/image2.jpg"/><Relationship Id="rId7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00" y="411300"/>
            <a:ext cx="1563225" cy="96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371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232950" y="1595275"/>
            <a:ext cx="86781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PlastizymeFinder: a pipeline for the discovery of putative plastic-degrading enzymes in metagenomic datasets</a:t>
            </a:r>
            <a:endParaRPr sz="2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11300" y="2824975"/>
            <a:ext cx="6241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Hongo Koffi Anderson</a:t>
            </a:r>
            <a:endParaRPr sz="22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11300" y="3261000"/>
            <a:ext cx="62412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DC09D"/>
                </a:solidFill>
                <a:latin typeface="Roboto Mono"/>
                <a:ea typeface="Roboto Mono"/>
                <a:cs typeface="Roboto Mono"/>
                <a:sym typeface="Roboto Mono"/>
              </a:rPr>
              <a:t>PhD student - University Nangui Abrogoua</a:t>
            </a:r>
            <a:endParaRPr sz="1800">
              <a:solidFill>
                <a:srgbClr val="0DC09D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2" name="Google Shape;62;p13"/>
          <p:cNvGrpSpPr/>
          <p:nvPr/>
        </p:nvGrpSpPr>
        <p:grpSpPr>
          <a:xfrm>
            <a:off x="449000" y="3783100"/>
            <a:ext cx="1038000" cy="974126"/>
            <a:chOff x="449000" y="3783100"/>
            <a:chExt cx="1038000" cy="974126"/>
          </a:xfrm>
        </p:grpSpPr>
        <p:sp>
          <p:nvSpPr>
            <p:cNvPr id="63" name="Google Shape;63;p13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4" name="Google Shape;64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C09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9" y="4841990"/>
            <a:ext cx="285276" cy="17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454" y="4842000"/>
            <a:ext cx="285276" cy="17565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442988" y="1006534"/>
            <a:ext cx="5473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01 - Why plastizymes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42988" y="1419275"/>
            <a:ext cx="5473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02 - Pipeline architecture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442988" y="1832016"/>
            <a:ext cx="5473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03 - Built the Nextflow way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42988" y="2244757"/>
            <a:ext cx="5473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04 - From reads to a 3D fold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442988" y="2657498"/>
            <a:ext cx="5473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05 - Validation on real data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442988" y="3070239"/>
            <a:ext cx="5473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06 - What running it taught us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442988" y="3482979"/>
            <a:ext cx="5473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07 - Status and roadmap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42988" y="3895720"/>
            <a:ext cx="5473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08 - Team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413825" y="421074"/>
            <a:ext cx="82296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Table of contents</a:t>
            </a:r>
            <a:endParaRPr sz="2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483474" y="4795980"/>
            <a:ext cx="285242" cy="267690"/>
            <a:chOff x="449000" y="3783100"/>
            <a:chExt cx="1038000" cy="974126"/>
          </a:xfrm>
        </p:grpSpPr>
        <p:sp>
          <p:nvSpPr>
            <p:cNvPr id="98" name="Google Shape;98;p15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26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125" lIns="25125" spcFirstLastPara="1" rIns="25125" wrap="square" tIns="2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5"/>
            </a:p>
          </p:txBody>
        </p:sp>
        <p:pic>
          <p:nvPicPr>
            <p:cNvPr id="99" name="Google Shape;99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C09D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9" y="4841990"/>
            <a:ext cx="285276" cy="1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1386575" y="3398431"/>
            <a:ext cx="16914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SemiBold"/>
                <a:ea typeface="Inter SemiBold"/>
                <a:cs typeface="Inter SemiBold"/>
                <a:sym typeface="Inter SemiBold"/>
              </a:rPr>
              <a:t>Hongo Koffi Anderson</a:t>
            </a:r>
            <a:endParaRPr sz="1300">
              <a:solidFill>
                <a:srgbClr val="000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317575" y="3664418"/>
            <a:ext cx="18294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 Light"/>
                <a:ea typeface="Inter Light"/>
                <a:cs typeface="Inter Light"/>
                <a:sym typeface="Inter Light"/>
              </a:rPr>
              <a:t>PhD student</a:t>
            </a:r>
            <a:r>
              <a:rPr lang="en" sz="110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" sz="1100">
                <a:latin typeface="Inter Light"/>
                <a:ea typeface="Inter Light"/>
                <a:cs typeface="Inter Light"/>
                <a:sym typeface="Inter Light"/>
              </a:rPr>
              <a:t>Nangui Abrogoua University</a:t>
            </a:r>
            <a:endParaRPr sz="1100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3726300" y="3398431"/>
            <a:ext cx="16914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SemiBold"/>
                <a:ea typeface="Inter SemiBold"/>
                <a:cs typeface="Inter SemiBold"/>
                <a:sym typeface="Inter SemiBold"/>
              </a:rPr>
              <a:t>Ouattara Koffi Nouho</a:t>
            </a:r>
            <a:endParaRPr sz="1300">
              <a:solidFill>
                <a:srgbClr val="000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066025" y="3398431"/>
            <a:ext cx="16914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Inter SemiBold"/>
                <a:ea typeface="Inter SemiBold"/>
                <a:cs typeface="Inter SemiBold"/>
                <a:sym typeface="Inter SemiBold"/>
              </a:rPr>
              <a:t>Kouadio Attahoua Ines E.</a:t>
            </a:r>
            <a:endParaRPr sz="1300">
              <a:solidFill>
                <a:srgbClr val="000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691800" y="3664418"/>
            <a:ext cx="18294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Inter Light"/>
                <a:ea typeface="Inter Light"/>
                <a:cs typeface="Inter Light"/>
                <a:sym typeface="Inter Light"/>
              </a:rPr>
              <a:t>Doctor</a:t>
            </a:r>
            <a:r>
              <a:rPr lang="en" sz="110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,</a:t>
            </a:r>
            <a:r>
              <a:rPr lang="en" sz="11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Nangui Abrogoua University</a:t>
            </a:r>
            <a:endParaRPr sz="11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997025" y="3653276"/>
            <a:ext cx="18294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PhD student, Nangui Abrogoua University</a:t>
            </a:r>
            <a:endParaRPr sz="11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13825" y="421074"/>
            <a:ext cx="82296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</a:t>
            </a:r>
            <a:endParaRPr sz="2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5" name="Google Shape;115;p16"/>
          <p:cNvGrpSpPr/>
          <p:nvPr/>
        </p:nvGrpSpPr>
        <p:grpSpPr>
          <a:xfrm>
            <a:off x="483474" y="4795980"/>
            <a:ext cx="285242" cy="267690"/>
            <a:chOff x="449000" y="3783100"/>
            <a:chExt cx="1038000" cy="974126"/>
          </a:xfrm>
        </p:grpSpPr>
        <p:sp>
          <p:nvSpPr>
            <p:cNvPr id="116" name="Google Shape;116;p16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26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125" lIns="25125" spcFirstLastPara="1" rIns="25125" wrap="square" tIns="2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5"/>
            </a:p>
          </p:txBody>
        </p:sp>
        <p:pic>
          <p:nvPicPr>
            <p:cNvPr id="117" name="Google Shape;117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8" name="Google Shape;118;p16"/>
          <p:cNvPicPr preferRelativeResize="0"/>
          <p:nvPr/>
        </p:nvPicPr>
        <p:blipFill rotWithShape="1">
          <a:blip r:embed="rId5">
            <a:alphaModFix/>
          </a:blip>
          <a:srcRect b="3635" l="0" r="0" t="3635"/>
          <a:stretch/>
        </p:blipFill>
        <p:spPr>
          <a:xfrm>
            <a:off x="3613925" y="1403550"/>
            <a:ext cx="1907264" cy="17685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" name="Google Shape;119;p16"/>
          <p:cNvPicPr preferRelativeResize="0"/>
          <p:nvPr/>
        </p:nvPicPr>
        <p:blipFill rotWithShape="1">
          <a:blip r:embed="rId6">
            <a:alphaModFix/>
          </a:blip>
          <a:srcRect b="6926" l="0" r="0" t="1466"/>
          <a:stretch/>
        </p:blipFill>
        <p:spPr>
          <a:xfrm>
            <a:off x="6224650" y="1308334"/>
            <a:ext cx="1532776" cy="188057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7">
            <a:alphaModFix/>
          </a:blip>
          <a:srcRect b="4354" l="0" r="0" t="4363"/>
          <a:stretch/>
        </p:blipFill>
        <p:spPr>
          <a:xfrm>
            <a:off x="1270475" y="1425495"/>
            <a:ext cx="1907274" cy="1741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B6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411289" y="810900"/>
            <a:ext cx="5473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Stages 7 and 8 — the part specific to this pipeline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413825" y="421074"/>
            <a:ext cx="82296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From reads to a 3D fold</a:t>
            </a:r>
            <a:endParaRPr sz="2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6" y="4841359"/>
            <a:ext cx="285276" cy="1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414102" y="1128472"/>
            <a:ext cx="5805300" cy="3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Dereplicated, non-redundant proteins from the assembled bins — plus the contigs MetaBAT2 left unbinned, so nothing is lost — are screened by MeTarEnz against a curated database of PET-active enzymes, at the study's minimum bit-score of 250.</a:t>
            </a:r>
            <a:endParaRPr sz="11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Whatever passes goes two ways at once: RPS-BLAST against pre-formatted NCBI CDD profiles for conserved domains, and ColabFold for the fold. ColabFold takes its MSA from a public MMseqs2 server, so stage 8 needs no local structure database — that is what makes it runnable on a workstation. TM-align then scores each model against a reference PETase, 6EQE by default.</a:t>
            </a:r>
            <a:endParaRPr sz="11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Already have candidate sequences? --candidates_fasta enters the pipeline here, skipping stages 1-6 entirely.</a:t>
            </a:r>
            <a:endParaRPr sz="11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MeTarEnz is a published tool by Foroozandeh Shahraki et al., Nat. Prod. Bioprospect. 2024 (doi:10.1007/s13659-023-00426-8). We wrap it in a Nextflow module that handles its relative paths and its silent zero-hit exit.</a:t>
            </a:r>
            <a:endParaRPr sz="11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5" name="Google Shape;175;p19"/>
          <p:cNvGrpSpPr/>
          <p:nvPr/>
        </p:nvGrpSpPr>
        <p:grpSpPr>
          <a:xfrm>
            <a:off x="483474" y="4795980"/>
            <a:ext cx="285242" cy="267690"/>
            <a:chOff x="449000" y="3783100"/>
            <a:chExt cx="1038000" cy="974126"/>
          </a:xfrm>
        </p:grpSpPr>
        <p:sp>
          <p:nvSpPr>
            <p:cNvPr id="176" name="Google Shape;176;p19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26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125" lIns="25125" spcFirstLastPara="1" rIns="25125" wrap="square" tIns="2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5"/>
            </a:p>
          </p:txBody>
        </p:sp>
        <p:pic>
          <p:nvPicPr>
            <p:cNvPr id="177" name="Google Shape;177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B6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411289" y="810900"/>
            <a:ext cx="5473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Done, and what comes next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13825" y="421074"/>
            <a:ext cx="82296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Where it stands</a:t>
            </a:r>
            <a:endParaRPr sz="2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7" name="Google Shape;2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6" y="4841359"/>
            <a:ext cx="285276" cy="1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/>
          <p:nvPr/>
        </p:nvSpPr>
        <p:spPr>
          <a:xfrm>
            <a:off x="4801249" y="1325550"/>
            <a:ext cx="3931500" cy="31317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4979237" y="1485675"/>
            <a:ext cx="34182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Next</a:t>
            </a:r>
            <a:endParaRPr sz="16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four remaining samples, end to end.</a:t>
            </a:r>
            <a:endParaRPr sz="10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second binner plus DAS Tool, the gap to nf-core/mag.</a:t>
            </a:r>
            <a:endParaRPr sz="10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Submit TM-align, RPS-BLAST and ColabFold to nf-core/modules — none of the three exists upstream today.</a:t>
            </a:r>
            <a:endParaRPr sz="10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MeTarEnz needs a Bioconda recipe before it can follow.</a:t>
            </a:r>
            <a:endParaRPr sz="105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411302" y="1325550"/>
            <a:ext cx="3931500" cy="313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589290" y="1485675"/>
            <a:ext cx="34182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Done</a:t>
            </a:r>
            <a:endParaRPr sz="16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 nine stages run on real data, no stage skipped.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CheckM2 enforces the published quality thresholds again.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MeTarEnz image is public on GHCR — an anonymous docker pull works.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 green on four checks, merged to main.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--candidates_fasta screens sequences you already have.</a:t>
            </a:r>
            <a:endParaRPr sz="10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2" name="Google Shape;222;p22"/>
          <p:cNvGrpSpPr/>
          <p:nvPr/>
        </p:nvGrpSpPr>
        <p:grpSpPr>
          <a:xfrm>
            <a:off x="483474" y="4795980"/>
            <a:ext cx="285242" cy="267690"/>
            <a:chOff x="449000" y="3783100"/>
            <a:chExt cx="1038000" cy="974126"/>
          </a:xfrm>
        </p:grpSpPr>
        <p:sp>
          <p:nvSpPr>
            <p:cNvPr id="223" name="Google Shape;223;p22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26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125" lIns="25125" spcFirstLastPara="1" rIns="25125" wrap="square" tIns="2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5"/>
            </a:p>
          </p:txBody>
        </p:sp>
        <p:pic>
          <p:nvPicPr>
            <p:cNvPr id="224" name="Google Shape;224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B6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11289" y="810900"/>
            <a:ext cx="5473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problem, and the gap this pipeline fills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413825" y="421074"/>
            <a:ext cx="82296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Why plastizymes</a:t>
            </a:r>
            <a:endParaRPr sz="2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4" name="Google Shape;2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6" y="4841359"/>
            <a:ext cx="285276" cy="1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/>
          <p:nvPr/>
        </p:nvSpPr>
        <p:spPr>
          <a:xfrm>
            <a:off x="3285147" y="1325550"/>
            <a:ext cx="2573700" cy="31317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345155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Very few known enzymes</a:t>
            </a:r>
            <a:endParaRPr sz="15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PETases we know were mostly found by chance. The enzyme space sitting in environmental metagenomes is largely unexplored.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curated PET_DB screened here holds 158 non-redundant sequences - that is the whole of what is well characterised.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6158997" y="1325550"/>
            <a:ext cx="2573700" cy="31317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632540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end-to-end workflow</a:t>
            </a:r>
            <a:endParaRPr sz="15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Mining a metagenome for them means chaining about twenty tools — and existing workflows stop at functional annotation. None carry a candidate through to a predicted structure.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411297" y="1325550"/>
            <a:ext cx="2573700" cy="31317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57770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rare clean route</a:t>
            </a:r>
            <a:endParaRPr sz="15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Enzymatic depolymerisation is one of the few PET-waste routes that is both selective and runs near ambient temperature.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Mechanical recycling shortens the polymer at every cycle. An enzyme does not.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1" name="Google Shape;241;p23"/>
          <p:cNvGrpSpPr/>
          <p:nvPr/>
        </p:nvGrpSpPr>
        <p:grpSpPr>
          <a:xfrm>
            <a:off x="483474" y="4795980"/>
            <a:ext cx="285242" cy="267690"/>
            <a:chOff x="449000" y="3783100"/>
            <a:chExt cx="1038000" cy="974126"/>
          </a:xfrm>
        </p:grpSpPr>
        <p:sp>
          <p:nvSpPr>
            <p:cNvPr id="242" name="Google Shape;242;p23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26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125" lIns="25125" spcFirstLastPara="1" rIns="25125" wrap="square" tIns="2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5"/>
            </a:p>
          </p:txBody>
        </p:sp>
        <p:pic>
          <p:nvPicPr>
            <p:cNvPr id="243" name="Google Shape;24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B6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411289" y="810900"/>
            <a:ext cx="5473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Nine subworkflows, each independently skippable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413825" y="421074"/>
            <a:ext cx="82296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Pipeline architecture</a:t>
            </a:r>
            <a:endParaRPr sz="2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6" y="4841359"/>
            <a:ext cx="285276" cy="1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/>
          <p:nvPr/>
        </p:nvSpPr>
        <p:spPr>
          <a:xfrm>
            <a:off x="3285147" y="1325550"/>
            <a:ext cx="2573700" cy="313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345155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4-6 · Contigs to MAGs</a:t>
            </a:r>
            <a:endParaRPr sz="15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MetaBAT2 binning on Bowtie2 coverage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QUAST + CheckM2 + dRep dereplication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Prokka · CD-HIT · GTDB-Tk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eggNOG · dbCAN · KofamScan, in parallel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158997" y="1325550"/>
            <a:ext cx="2573700" cy="313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632540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7-9 · MAGs to a fold</a:t>
            </a:r>
            <a:endParaRPr sz="15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MeTarEnz against a curated PET_DB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RPS-BLAST vs CDD ‖ ColabFold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TM-align against PETase 6EQE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MultiQC and per-run figures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411297" y="1325550"/>
            <a:ext cx="2573700" cy="313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57770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1-3 · Reads to contigs</a:t>
            </a:r>
            <a:endParaRPr sz="15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FastQC → fastp → Bowtie2 host removal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Kraken2 + MetaPhlAn4 profiling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MEGAHIT → QUAST → Prodigal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0" name="Google Shape;260;p24"/>
          <p:cNvGrpSpPr/>
          <p:nvPr/>
        </p:nvGrpSpPr>
        <p:grpSpPr>
          <a:xfrm>
            <a:off x="483474" y="4795980"/>
            <a:ext cx="285242" cy="267690"/>
            <a:chOff x="449000" y="3783100"/>
            <a:chExt cx="1038000" cy="974126"/>
          </a:xfrm>
        </p:grpSpPr>
        <p:sp>
          <p:nvSpPr>
            <p:cNvPr id="261" name="Google Shape;261;p24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26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125" lIns="25125" spcFirstLastPara="1" rIns="25125" wrap="square" tIns="2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5"/>
            </a:p>
          </p:txBody>
        </p:sp>
        <p:pic>
          <p:nvPicPr>
            <p:cNvPr id="262" name="Google Shape;262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C09D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9" y="4841990"/>
            <a:ext cx="285276" cy="1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413825" y="2388299"/>
            <a:ext cx="82296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From raw FASTQ, with no manual step, the pipeline recovered a published PET hydrolase at 99.68 % identity.</a:t>
            </a:r>
            <a:endParaRPr i="1" sz="2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7543375" y="1131050"/>
            <a:ext cx="137100" cy="137100"/>
          </a:xfrm>
          <a:prstGeom prst="rect">
            <a:avLst/>
          </a:prstGeom>
          <a:solidFill>
            <a:srgbClr val="B6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7680475" y="993950"/>
            <a:ext cx="137100" cy="13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7543375" y="856850"/>
            <a:ext cx="137100" cy="137100"/>
          </a:xfrm>
          <a:prstGeom prst="rect">
            <a:avLst/>
          </a:prstGeom>
          <a:solidFill>
            <a:srgbClr val="B6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7406275" y="993950"/>
            <a:ext cx="137100" cy="13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 rot="5400000">
            <a:off x="966075" y="3890225"/>
            <a:ext cx="137100" cy="137100"/>
          </a:xfrm>
          <a:prstGeom prst="rect">
            <a:avLst/>
          </a:prstGeom>
          <a:solidFill>
            <a:srgbClr val="B6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 rot="5400000">
            <a:off x="1103175" y="4027325"/>
            <a:ext cx="137100" cy="13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 rot="5400000">
            <a:off x="1103175" y="3753125"/>
            <a:ext cx="137100" cy="137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26"/>
          <p:cNvGrpSpPr/>
          <p:nvPr/>
        </p:nvGrpSpPr>
        <p:grpSpPr>
          <a:xfrm>
            <a:off x="483474" y="4795980"/>
            <a:ext cx="285242" cy="267690"/>
            <a:chOff x="449000" y="3783100"/>
            <a:chExt cx="1038000" cy="974126"/>
          </a:xfrm>
        </p:grpSpPr>
        <p:sp>
          <p:nvSpPr>
            <p:cNvPr id="298" name="Google Shape;298;p26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26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125" lIns="25125" spcFirstLastPara="1" rIns="25125" wrap="square" tIns="2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5"/>
            </a:p>
          </p:txBody>
        </p:sp>
        <p:pic>
          <p:nvPicPr>
            <p:cNvPr id="299" name="Google Shape;299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00" y="411300"/>
            <a:ext cx="1563225" cy="96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/>
          <p:nvPr/>
        </p:nvSpPr>
        <p:spPr>
          <a:xfrm>
            <a:off x="1371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7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7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7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411300" y="2286000"/>
            <a:ext cx="6241200" cy="1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sz="3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FD6A0"/>
                </a:solidFill>
                <a:latin typeface="Inter"/>
                <a:ea typeface="Inter"/>
                <a:cs typeface="Inter"/>
                <a:sym typeface="Inter"/>
              </a:rPr>
              <a:t>github.com/Bboy010/PlastizymeFinder</a:t>
            </a:r>
            <a:endParaRPr sz="1400">
              <a:solidFill>
                <a:srgbClr val="3FD6A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10" name="Google Shape;310;p27"/>
          <p:cNvGrpSpPr/>
          <p:nvPr/>
        </p:nvGrpSpPr>
        <p:grpSpPr>
          <a:xfrm>
            <a:off x="449000" y="3783100"/>
            <a:ext cx="1038000" cy="974126"/>
            <a:chOff x="449000" y="3783100"/>
            <a:chExt cx="1038000" cy="974126"/>
          </a:xfrm>
        </p:grpSpPr>
        <p:sp>
          <p:nvSpPr>
            <p:cNvPr id="311" name="Google Shape;311;p27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2" name="Google Shape;312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B6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11289" y="810900"/>
            <a:ext cx="5473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DSL2 throughout, portable, and resumable by design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413825" y="421074"/>
            <a:ext cx="82296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Built the Nextflow way</a:t>
            </a:r>
            <a:endParaRPr sz="2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4" name="Google Shape;2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6" y="4841359"/>
            <a:ext cx="285276" cy="1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/>
          <p:nvPr/>
        </p:nvSpPr>
        <p:spPr>
          <a:xfrm>
            <a:off x="3285147" y="1325550"/>
            <a:ext cx="2573700" cy="31317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345155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Nothing to install by hand</a:t>
            </a:r>
            <a:endParaRPr sz="15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Nine reference databases auto-download behind storeDir caching.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 point --kraken2_db, --gtdbtk_db, --checkm_db and the rest at copies you already have, and the pipeline fetches nothing at all.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6158997" y="1325550"/>
            <a:ext cx="2573700" cy="31317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632540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Resumable, and it mattered</a:t>
            </a:r>
            <a:endParaRPr sz="15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full sample runs in 3 h 20 on 8 cores — 139 CPU-hours.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-resume carried that run across four separate Docker Desktop restarts without recomputing a finished stage.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411297" y="1325550"/>
            <a:ext cx="2573700" cy="31317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57770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Strict DSL2</a:t>
            </a:r>
            <a:endParaRPr sz="15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52 files pass nextflow lint under NXF_SYNTAX_PARSER=v2.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nf-core module conventions end to end; every module carries a stub block, so CI exercises the whole DAG without pulling a single container.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1" name="Google Shape;241;p23"/>
          <p:cNvGrpSpPr/>
          <p:nvPr/>
        </p:nvGrpSpPr>
        <p:grpSpPr>
          <a:xfrm>
            <a:off x="483474" y="4795980"/>
            <a:ext cx="285242" cy="267690"/>
            <a:chOff x="449000" y="3783100"/>
            <a:chExt cx="1038000" cy="974126"/>
          </a:xfrm>
        </p:grpSpPr>
        <p:sp>
          <p:nvSpPr>
            <p:cNvPr id="242" name="Google Shape;242;p23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26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125" lIns="25125" spcFirstLastPara="1" rIns="25125" wrap="square" tIns="2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5"/>
            </a:p>
          </p:txBody>
        </p:sp>
        <p:pic>
          <p:nvPicPr>
            <p:cNvPr id="243" name="Google Shape;24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B6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11289" y="810900"/>
            <a:ext cx="5473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One complete sample, Bietry_1, from raw reads to a scored structure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413825" y="421074"/>
            <a:ext cx="82296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Validation on real data</a:t>
            </a:r>
            <a:endParaRPr sz="2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4" name="Google Shape;2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6" y="4841359"/>
            <a:ext cx="285276" cy="1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/>
          <p:nvPr/>
        </p:nvSpPr>
        <p:spPr>
          <a:xfrm>
            <a:off x="3285147" y="1325550"/>
            <a:ext cx="2573700" cy="31317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345155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99.68 % identity</a:t>
            </a:r>
            <a:endParaRPr sz="15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MeTarEnz returned a single candidate, bit-score 389.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315 aa, one residue from BietPETase1 — a PET hydrolase published from this very sample, and recovered here without being looked for.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6158997" y="1325550"/>
            <a:ext cx="2573700" cy="31317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632540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TM 0.923 · RMSD 1.45 Å</a:t>
            </a:r>
            <a:endParaRPr sz="15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ColabFold and TM-align against 6EQE reproduce the published 0.922 and 1.40 Å.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Same answer, fully independent route: assembly instead of the original MAGs.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411297" y="1325550"/>
            <a:ext cx="2573700" cy="31317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57770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1 753 → 7 bins</a:t>
            </a:r>
            <a:endParaRPr sz="15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MetaBAT2 produced 1,753 bins from the full assembly.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CheckM2 feeding dRep --genomeInfo, at the study's own 50 % completeness and 10 % contamination thresholds, kept 7.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1" name="Google Shape;241;p23"/>
          <p:cNvGrpSpPr/>
          <p:nvPr/>
        </p:nvGrpSpPr>
        <p:grpSpPr>
          <a:xfrm>
            <a:off x="483474" y="4795980"/>
            <a:ext cx="285242" cy="267690"/>
            <a:chOff x="449000" y="3783100"/>
            <a:chExt cx="1038000" cy="974126"/>
          </a:xfrm>
        </p:grpSpPr>
        <p:sp>
          <p:nvSpPr>
            <p:cNvPr id="242" name="Google Shape;242;p23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26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125" lIns="25125" spcFirstLastPara="1" rIns="25125" wrap="square" tIns="2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5"/>
            </a:p>
          </p:txBody>
        </p:sp>
        <p:pic>
          <p:nvPicPr>
            <p:cNvPr id="243" name="Google Shape;24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137100" y="1371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8869800" y="137100"/>
            <a:ext cx="137100" cy="137100"/>
          </a:xfrm>
          <a:prstGeom prst="rect">
            <a:avLst/>
          </a:prstGeom>
          <a:solidFill>
            <a:srgbClr val="B6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8869800" y="4869300"/>
            <a:ext cx="137100" cy="137100"/>
          </a:xfrm>
          <a:prstGeom prst="rect">
            <a:avLst/>
          </a:prstGeom>
          <a:solidFill>
            <a:srgbClr val="0DC0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411289" y="810900"/>
            <a:ext cx="54735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Every stage we had never actually executed was broken</a:t>
            </a:r>
            <a:endParaRPr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413825" y="421074"/>
            <a:ext cx="82296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 running it taught us</a:t>
            </a:r>
            <a:endParaRPr sz="2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3" name="Google Shape;2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6" y="4841359"/>
            <a:ext cx="285276" cy="17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/>
          <p:nvPr/>
        </p:nvSpPr>
        <p:spPr>
          <a:xfrm>
            <a:off x="3285147" y="1325550"/>
            <a:ext cx="2573700" cy="313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345155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Silent success is worse</a:t>
            </a:r>
            <a:endParaRPr sz="15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dRep exited 0 having produced nothing at all.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storeDir published three 0-byte eggNOG files, which the next run would have reused as a finished database.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-resume reused a stub run's empty directory as a real Kraken2 index.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158997" y="1325550"/>
            <a:ext cx="2573700" cy="313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632540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Scale changes the failure</a:t>
            </a:r>
            <a:endParaRPr sz="15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GTDB-Tk fit in 10.7 GB on the toy dataset.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 seven real genomes, pplacer asked for an 89 GB reference tree and the kernel killed it at 29 GB. --scratch_dir fixed it — but only the real run could find it.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411297" y="1325550"/>
            <a:ext cx="2573700" cy="3131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nter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577700" y="1485675"/>
            <a:ext cx="223770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Containers lie by omission</a:t>
            </a:r>
            <a:endParaRPr sz="15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kraken2's image ships no rsync. metabat2's ships no python3. dbCAN 5's ships no hmmpress.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Three modules that read fine and could never have run. None of it is visible without executing the command.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0" name="Google Shape;260;p24"/>
          <p:cNvGrpSpPr/>
          <p:nvPr/>
        </p:nvGrpSpPr>
        <p:grpSpPr>
          <a:xfrm>
            <a:off x="483474" y="4795980"/>
            <a:ext cx="285242" cy="267690"/>
            <a:chOff x="449000" y="3783100"/>
            <a:chExt cx="1038000" cy="974126"/>
          </a:xfrm>
        </p:grpSpPr>
        <p:sp>
          <p:nvSpPr>
            <p:cNvPr id="261" name="Google Shape;261;p24"/>
            <p:cNvSpPr/>
            <p:nvPr/>
          </p:nvSpPr>
          <p:spPr>
            <a:xfrm>
              <a:off x="449000" y="3783100"/>
              <a:ext cx="1038000" cy="974100"/>
            </a:xfrm>
            <a:prstGeom prst="rect">
              <a:avLst/>
            </a:prstGeom>
            <a:solidFill>
              <a:schemeClr val="lt1"/>
            </a:solidFill>
            <a:ln cap="flat" cmpd="sng" w="26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125" lIns="25125" spcFirstLastPara="1" rIns="25125" wrap="square" tIns="251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5"/>
            </a:p>
          </p:txBody>
        </p:sp>
        <p:pic>
          <p:nvPicPr>
            <p:cNvPr id="262" name="Google Shape;262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4638" y="3845476"/>
              <a:ext cx="926700" cy="911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