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EC4B6"/>
                </a:solidFill>
                <a:latin typeface="Calibri"/>
              </a:rPr>
              <a:t>NEXTFLOW SUMMIT  ·  ABSTRACT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74519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PlastizymeFinder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200" b="0" i="0">
                <a:solidFill>
                  <a:srgbClr val="C7DAE6"/>
                </a:solidFill>
                <a:latin typeface="Calibri"/>
              </a:rPr>
              <a:t>A Nextflow DSL2 pipeline for the discovery of putative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200" b="0" i="0">
                <a:solidFill>
                  <a:srgbClr val="C7DAE6"/>
                </a:solidFill>
                <a:latin typeface="Calibri"/>
              </a:rPr>
              <a:t>plastic-degrading enzymes in metagenomic datasets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977639"/>
            <a:ext cx="1280160" cy="381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Hongo Koffi Anderson  ·  Ouattara Koffi Nouho  ·  Kouadio Attahoua Ines Estelle  ·  Yao Koffi Olivier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83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2EC4B6"/>
                </a:solidFill>
                <a:latin typeface="Calibri"/>
              </a:rPr>
              <a:t>github.com/Bboy010/PlastizymeFinder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Why plastizymes, and why a pipeline?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8521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>
                <a:solidFill>
                  <a:srgbClr val="2EC4B6"/>
                </a:solidFill>
                <a:latin typeface="Calibri"/>
              </a:rPr>
              <a:t>▪  </a:t>
            </a:r>
            <a:r>
              <a:rPr sz="1700">
                <a:solidFill>
                  <a:srgbClr val="1B2A38"/>
                </a:solidFill>
                <a:latin typeface="Calibri"/>
              </a:rPr>
              <a:t>Enzymatic depolymerisation of PET is one of the few plastic-waste routes that is both selective and low-energy.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>
                <a:solidFill>
                  <a:srgbClr val="2EC4B6"/>
                </a:solidFill>
                <a:latin typeface="Calibri"/>
              </a:rPr>
              <a:t>▪  </a:t>
            </a:r>
            <a:r>
              <a:rPr sz="1700">
                <a:solidFill>
                  <a:srgbClr val="1B2A38"/>
                </a:solidFill>
                <a:latin typeface="Calibri"/>
              </a:rPr>
              <a:t>Known PETases are few and mostly isolated by chance — the enzyme space in the environment is largely unexplored.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>
                <a:solidFill>
                  <a:srgbClr val="2EC4B6"/>
                </a:solidFill>
                <a:latin typeface="Calibri"/>
              </a:rPr>
              <a:t>▪  </a:t>
            </a:r>
            <a:r>
              <a:rPr sz="1700">
                <a:solidFill>
                  <a:srgbClr val="1B2A38"/>
                </a:solidFill>
                <a:latin typeface="Calibri"/>
              </a:rPr>
              <a:t>Metagenomes of plastic-contaminated sites are a natural reservoir, but mining them requires chaining ~20 tools.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>
                <a:solidFill>
                  <a:srgbClr val="2EC4B6"/>
                </a:solidFill>
                <a:latin typeface="Calibri"/>
              </a:rPr>
              <a:t>▪  </a:t>
            </a:r>
            <a:r>
              <a:rPr sz="1700">
                <a:solidFill>
                  <a:srgbClr val="1B2A38"/>
                </a:solidFill>
                <a:latin typeface="Calibri"/>
              </a:rPr>
              <a:t>Existing metagenomics workflows stop at functional annotation — none carry candidates through to structural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737360"/>
            <a:ext cx="4526280" cy="324612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057400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THE GAP WE 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468880"/>
            <a:ext cx="3794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From raw reads to a ranked list of candidate plastizymes — each one with a predicted 3D fold and a TM-score against a reference PETase — in a single reproducible, resumable command.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9 MODULAR SUBWORKFLOWS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Pipeline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64792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83080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1 · QC &amp; preprocessing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39112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FastQC → fastp → Bowtie2 host removal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99132" y="2404872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587752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660904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679192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2 · Taxonomic profiling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2935224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Kraken2 + MetaPhlAn4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199132" y="3300984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3483864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557016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57530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3 · Assembly &amp; gene calling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383133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MEGAHIT → QUAST → Prodigal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199132" y="4197096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379976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453128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4471416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4 · Genome binning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472744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MetaBAT2 (coverage from Bowtie2)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1691640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764792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5112" y="1783080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5 · Bin QC &amp; dereplication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5112" y="2039112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QUAST + dRep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673852" y="2404872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0520" y="2587752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60520" y="2660904"/>
            <a:ext cx="57150" cy="512064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5112" y="2679192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6 · Functional annotation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5112" y="2935224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Prokka · CD-HIT · GTDB-Tk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5673852" y="3300984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60520" y="3483864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557016"/>
            <a:ext cx="57150" cy="512064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25112" y="357530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  · in parallel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5112" y="383133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eggNOG · dbCAN2 · KofamScan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5673852" y="4197096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60520" y="4379976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60520" y="4453128"/>
            <a:ext cx="57150" cy="512064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25112" y="4471416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7 · Plastizyme prediction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5112" y="472744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MeTarENZ vs curated PET_DB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35240" y="1691640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635240" y="1764792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99832" y="1783080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8 · Structure 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9832" y="2039112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CD-Search → AlphaFold2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9148572" y="2404872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635240" y="2587752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2660904"/>
            <a:ext cx="57150" cy="512064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99832" y="2679192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  · structural match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99832" y="2935224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TM-Align vs PETase 6EQE</a:t>
            </a:r>
          </a:p>
        </p:txBody>
      </p:sp>
      <p:sp>
        <p:nvSpPr>
          <p:cNvPr id="53" name="Down Arrow 52"/>
          <p:cNvSpPr/>
          <p:nvPr/>
        </p:nvSpPr>
        <p:spPr>
          <a:xfrm>
            <a:off x="9148572" y="3300984"/>
            <a:ext cx="128016" cy="182880"/>
          </a:xfrm>
          <a:prstGeom prst="down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635240" y="3483864"/>
            <a:ext cx="3154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35240" y="3557016"/>
            <a:ext cx="57150" cy="512064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99832" y="357530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9 · Reporting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99832" y="383133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MultiQC aggregation</a:t>
            </a:r>
          </a:p>
        </p:txBody>
      </p:sp>
      <p:sp>
        <p:nvSpPr>
          <p:cNvPr id="58" name="Oval 57"/>
          <p:cNvSpPr/>
          <p:nvPr/>
        </p:nvSpPr>
        <p:spPr>
          <a:xfrm>
            <a:off x="685800" y="5852160"/>
            <a:ext cx="128016" cy="128016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5256" y="5806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Validated on real data</a:t>
            </a:r>
          </a:p>
        </p:txBody>
      </p:sp>
      <p:sp>
        <p:nvSpPr>
          <p:cNvPr id="60" name="Oval 59"/>
          <p:cNvSpPr/>
          <p:nvPr/>
        </p:nvSpPr>
        <p:spPr>
          <a:xfrm>
            <a:off x="3337560" y="5852160"/>
            <a:ext cx="128016" cy="128016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57016" y="5806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Partially failing</a:t>
            </a:r>
          </a:p>
        </p:txBody>
      </p:sp>
      <p:sp>
        <p:nvSpPr>
          <p:cNvPr id="62" name="Oval 61"/>
          <p:cNvSpPr/>
          <p:nvPr/>
        </p:nvSpPr>
        <p:spPr>
          <a:xfrm>
            <a:off x="5989320" y="5852160"/>
            <a:ext cx="128016" cy="128016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08776" y="5806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Blocked — no container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Built the Nextflow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789920" cy="786384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DSL2 throughout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11096"/>
            <a:ext cx="7452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B7B"/>
                </a:solidFill>
                <a:latin typeface="Calibri"/>
              </a:rPr>
              <a:t>9 independently skippable subworkflows; nf-core module conventions followed end to 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15768"/>
            <a:ext cx="10789920" cy="786384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Strict syntax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843784"/>
            <a:ext cx="7452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B7B"/>
                </a:solidFill>
                <a:latin typeface="Calibri"/>
              </a:rPr>
              <a:t>All 45 files pass nextflow lint under NXF_SYNTAX_PARSER=v2.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48456"/>
            <a:ext cx="10789920" cy="786384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67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Portable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76472"/>
            <a:ext cx="7452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B7B"/>
                </a:solidFill>
                <a:latin typeface="Calibri"/>
              </a:rPr>
              <a:t>Profiles for docker, singularity, conda, and a resource-capped test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81144"/>
            <a:ext cx="10789920" cy="786384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7000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Zero manual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709160"/>
            <a:ext cx="7452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B7B"/>
                </a:solidFill>
                <a:latin typeface="Calibri"/>
              </a:rPr>
              <a:t>7 reference databases auto-download with storeDir caching — Kraken2, MetaPhlAn4, GTDB-Tk, eggNOG, dbCAN2, KofamScan, PETase 6EQE.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513832"/>
            <a:ext cx="10789920" cy="786384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632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Resumable by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641848"/>
            <a:ext cx="7452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B7B"/>
                </a:solidFill>
                <a:latin typeface="Calibri"/>
              </a:rPr>
              <a:t>-resume across a multi-day run on a single 6-core workstation.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STAGE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The core step: MeTarENZ against PET_DB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5B6B7B"/>
                </a:solidFill>
                <a:latin typeface="Calibri"/>
              </a:rPr>
              <a:t>Dereplicated, non-redundant proteins from the assembled bins are screened against a curated PET-active enzyme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06040"/>
            <a:ext cx="1947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6733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Non-redundant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38728"/>
            <a:ext cx="1764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CD-HIT output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88336" y="3209544"/>
            <a:ext cx="155448" cy="146304"/>
          </a:xfrm>
          <a:prstGeom prst="right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606040"/>
            <a:ext cx="1947672" cy="13716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880360"/>
            <a:ext cx="16733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MeTarENZ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screen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3538728"/>
            <a:ext cx="1764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EC4B6"/>
                </a:solidFill>
                <a:latin typeface="Calibri"/>
              </a:rPr>
              <a:t>vs curated PET_DB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01184" y="3209544"/>
            <a:ext cx="155448" cy="146304"/>
          </a:xfrm>
          <a:prstGeom prst="right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11496" y="2606040"/>
            <a:ext cx="1947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80360"/>
            <a:ext cx="16733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Candidate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plastizymes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3538728"/>
            <a:ext cx="1764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ranked FASTA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3209544"/>
            <a:ext cx="155448" cy="146304"/>
          </a:xfrm>
          <a:prstGeom prst="right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4344" y="2606040"/>
            <a:ext cx="1947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1504" y="2880360"/>
            <a:ext cx="16733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AlphaFold2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3538728"/>
            <a:ext cx="1764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predicted 3D fold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26880" y="3209544"/>
            <a:ext cx="155448" cy="146304"/>
          </a:xfrm>
          <a:prstGeom prst="rightArrow">
            <a:avLst/>
          </a:prstGeom>
          <a:solidFill>
            <a:srgbClr val="B6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37192" y="2606040"/>
            <a:ext cx="1947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74352" y="2880360"/>
            <a:ext cx="16733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TM-Align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8632" y="3538728"/>
            <a:ext cx="1764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B6B7B"/>
                </a:solidFill>
                <a:latin typeface="Calibri"/>
              </a:rPr>
              <a:t>TM-score vs 6EQE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43484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507992"/>
            <a:ext cx="63500" cy="1088136"/>
          </a:xfrm>
          <a:prstGeom prst="rect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17720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4CA64C"/>
                </a:solidFill>
                <a:latin typeface="Calibri"/>
              </a:rPr>
              <a:t>TOOL 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919472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1B2A38"/>
                </a:solidFill>
                <a:latin typeface="Calibri"/>
              </a:rPr>
              <a:t>MeTarEnz is a published tool by Foroozandeh Shahraki et al., Nat. Prod. Bioprospect. 2024 (doi:10.1007/s13659-023-00426-8). Its authors ship a Docker image, so stage 7 runs today — we wrap it in a Nextflow module that handles its relative paths and its silent zero-hit exit.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RESULTS ·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Validated on a real environmental metagenome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>
                <a:solidFill>
                  <a:srgbClr val="5B6B7B"/>
                </a:solidFill>
                <a:latin typeface="Calibri"/>
              </a:rPr>
              <a:t>Field sample (Bietry_2), paired-end Illumina — run end to end on a single 6-core / 30 GB workstation.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8716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2EC4B6"/>
                </a:solidFill>
                <a:latin typeface="Calibri"/>
              </a:rPr>
              <a:t>22,902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contigs assembled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(MEGAHIT)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228600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6" y="248716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2EC4B6"/>
                </a:solidFill>
                <a:latin typeface="Calibri"/>
              </a:rPr>
              <a:t>83.6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296265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total assembly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N50 = 4,022 bp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6632" y="228600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248716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2EC4B6"/>
                </a:solidFill>
                <a:latin typeface="Calibri"/>
              </a:rPr>
              <a:t>1.19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6632" y="296265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largest contig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GC 48.0%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42048" y="228600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248716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2EC4B6"/>
                </a:solidFill>
                <a:latin typeface="Calibri"/>
              </a:rPr>
              <a:t>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296265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genome bins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(MetaBAT2 → dRep)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27464" y="2286000"/>
            <a:ext cx="2057400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27464" y="2487168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2EC4B6"/>
                </a:solidFill>
                <a:latin typeface="Calibri"/>
              </a:rPr>
              <a:t>2,177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4" y="2962656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CDS annotated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B6B7B"/>
                </a:solidFill>
                <a:latin typeface="Calibri"/>
              </a:rPr>
              <a:t>(Prokka)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Community composition (Kraken2)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708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8"/>
                </a:solidFill>
                <a:latin typeface="Calibri"/>
              </a:rPr>
              <a:t>Psychrobacter spp. (6 taxa)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9080" y="4425696"/>
            <a:ext cx="1463040" cy="128016"/>
          </a:xfrm>
          <a:prstGeom prst="rect">
            <a:avLst/>
          </a:prstGeom>
          <a:solidFill>
            <a:srgbClr val="E4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9080" y="4425696"/>
            <a:ext cx="1398016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17.2%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7548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8"/>
                </a:solidFill>
                <a:latin typeface="Calibri"/>
              </a:rPr>
              <a:t>Thioclava nitratireducens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809744"/>
            <a:ext cx="1463040" cy="128016"/>
          </a:xfrm>
          <a:prstGeom prst="rect">
            <a:avLst/>
          </a:prstGeom>
          <a:solidFill>
            <a:srgbClr val="E4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9080" y="4809744"/>
            <a:ext cx="79654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0" y="47548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1.0%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389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8"/>
                </a:solidFill>
                <a:latin typeface="Calibri"/>
              </a:rPr>
              <a:t>Altererythrobacter epoxidivorans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9080" y="5193792"/>
            <a:ext cx="1463040" cy="128016"/>
          </a:xfrm>
          <a:prstGeom prst="rect">
            <a:avLst/>
          </a:prstGeom>
          <a:solidFill>
            <a:srgbClr val="E4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69080" y="5193792"/>
            <a:ext cx="47955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23560" y="51389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0.6%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20840" y="3931920"/>
            <a:ext cx="4754880" cy="1874519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1148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WHAT THIS PROVES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4348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B2A38"/>
                </a:solidFill>
                <a:latin typeface="Calibri"/>
              </a:rPr>
              <a:t>Stages 1–6 are not a paper design — they produce real, publication-grade metagenomic output on field data, with full -resume across a multi-day execution.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HONEST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Where the pipeline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7373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737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10789920" cy="429768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2212848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15798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QC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16712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FastQC, fastp, Bowtie2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671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642616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5877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Taxonomic profiling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968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Kraken2, MetaPhlAn4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59689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16936"/>
            <a:ext cx="10789920" cy="429768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072384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0175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Assembly &amp; gene calling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2666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MEGAHIT, QUAST, Prodigal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026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3502152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344728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Genome binning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4564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MetaBAT2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776472"/>
            <a:ext cx="10789920" cy="429768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8680" y="3931920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387705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Bin QC &amp; dereplication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8862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QUAST, dRep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886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" y="4361688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4306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Structural annotation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3159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Prokka, CD-HIT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3159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Run on field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636008"/>
            <a:ext cx="10789920" cy="429768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4791456"/>
            <a:ext cx="118872" cy="118872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5568" y="473659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Functional annotation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74573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eggNOG, dbCAN2, KofamScan, GTDB-Tk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7457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E09F3E"/>
                </a:solidFill>
                <a:latin typeface="Calibri"/>
              </a:rPr>
              <a:t>Container pinning</a:t>
            </a:r>
          </a:p>
        </p:txBody>
      </p:sp>
      <p:sp>
        <p:nvSpPr>
          <p:cNvPr id="41" name="Oval 40"/>
          <p:cNvSpPr/>
          <p:nvPr/>
        </p:nvSpPr>
        <p:spPr>
          <a:xfrm>
            <a:off x="868680" y="5221224"/>
            <a:ext cx="118872" cy="118872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5568" y="51663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Plastizyme prediction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7550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MeTarEnz vs PET_DB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1755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CA64C"/>
                </a:solidFill>
                <a:latin typeface="Calibri"/>
              </a:rPr>
              <a:t>Unit-tested, real 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5495544"/>
            <a:ext cx="10789920" cy="429768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68680" y="5650992"/>
            <a:ext cx="118872" cy="118872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5568" y="5596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B2545"/>
                </a:solidFill>
                <a:latin typeface="Calibri"/>
              </a:rPr>
              <a:t>Structure validation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60527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RPS-BLAST, AlphaFold2, TM-Align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6052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E09F3E"/>
                </a:solidFill>
                <a:latin typeface="Calibri"/>
              </a:rPr>
              <a:t>TM-Align tested; GPU pending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Static validation: 45/45 Nextflow files pass strict-syntax lint (NXF_SYNTAX_PARSER=v2).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WHAT RUNNING IT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Four failures that were silent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789920" cy="987552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039112"/>
            <a:ext cx="457200" cy="457200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30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A config profile that replaced, not merged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withName: blocks in our test profile silently REPLACED the ones in modules.config. Under -profile test, GTDB-Tk lost --skip_ani_screen, mandatory since v2. Nothing errored. Fixed by deleting the duplicates and letting resourceLimits do the capping.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62072"/>
            <a:ext cx="10789920" cy="987552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118104"/>
            <a:ext cx="457200" cy="457200"/>
          </a:xfrm>
          <a:prstGeom prst="ellipse">
            <a:avLst/>
          </a:prstGeom>
          <a:solidFill>
            <a:srgbClr val="4CA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99923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A boolean that arrived as a string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19272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Since Nextflow 25, --skip_structure false reaches the workflow as the String "false" — which is truthy. Stage 8 was skipped and the test said nothing. Fixed with a profile instead of a CLI flag.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41064"/>
            <a:ext cx="10789920" cy="987552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197096"/>
            <a:ext cx="457200" cy="457200"/>
          </a:xfrm>
          <a:prstGeom prst="ellipse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8853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7822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A tool container that never existed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98264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run-dbcan 4.1.4 is on neither Bioconda nor quay.io. Ported to dbcan 5, whose CLI changed to subcommands — verified against the image, but not yet against a real database.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20056"/>
            <a:ext cx="10789920" cy="987552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5276088"/>
            <a:ext cx="457200" cy="457200"/>
          </a:xfrm>
          <a:prstGeom prst="ellipse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67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1572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Bin quality is not measured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477256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dRep runs with --ignoreGenomeQuality, so completeness and contamination are never computed and our thresholds never apply. Adding CheckM2 is the next change: without it, 31 bins are not 31 MAGs.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2EC4B6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0B2545"/>
                </a:solidFill>
                <a:latin typeface="Calibri"/>
              </a:rPr>
              <a:t>Roadmap to a releasable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0584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211226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194560"/>
            <a:ext cx="1709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1" i="0">
                <a:solidFill>
                  <a:srgbClr val="2EC4B6"/>
                </a:solidFill>
                <a:latin typeface="Calibri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542032"/>
            <a:ext cx="17099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Stub CI over all 9 stages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520440"/>
            <a:ext cx="17099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31 modules with stub blocks; 33 processes green in GitHub Actions without a single container pull.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1965960"/>
            <a:ext cx="211226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2194560"/>
            <a:ext cx="1709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1" i="0">
                <a:solidFill>
                  <a:srgbClr val="2EC4B6"/>
                </a:solidFill>
                <a:latin typeface="Calibri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542032"/>
            <a:ext cx="17099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Reporting wired end to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5536" y="3520440"/>
            <a:ext cx="17099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MultiQC now aggregates every stage, versions from 31 modules collate into one file, and figures render per run.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2936" y="1965960"/>
            <a:ext cx="211226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4104" y="2194560"/>
            <a:ext cx="1709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1" i="0">
                <a:solidFill>
                  <a:srgbClr val="2EC4B6"/>
                </a:solidFill>
                <a:latin typeface="Calibri"/>
              </a:rPr>
              <a:t>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4104" y="2542032"/>
            <a:ext cx="17099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CheckM2 and a second binner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104" y="3520440"/>
            <a:ext cx="17099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The gap to nf-core/mag: measured completeness, plus DAS Tool refinement. Our MASH heatmap says there is ground to gain.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2112264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2" y="2194560"/>
            <a:ext cx="1709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1" i="0">
                <a:solidFill>
                  <a:srgbClr val="2EC4B6"/>
                </a:solidFill>
                <a:latin typeface="Calibri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2" y="2542032"/>
            <a:ext cx="17099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Split MSA from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520440"/>
            <a:ext cx="17099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B6B7B"/>
                </a:solidFill>
                <a:latin typeface="Calibri"/>
              </a:rPr>
              <a:t>proteinfold's pattern, so the GPU is held only for folding — and ESMFold for screening before AlphaFold2.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0072" y="1965960"/>
            <a:ext cx="2112264" cy="31089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194560"/>
            <a:ext cx="1709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1" i="0">
                <a:solidFill>
                  <a:srgbClr val="2EC4B6"/>
                </a:solidFill>
                <a:latin typeface="Calibri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2542032"/>
            <a:ext cx="17099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nf-core submission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3520440"/>
            <a:ext cx="17099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C7DAE6"/>
                </a:solidFill>
                <a:latin typeface="Calibri"/>
              </a:rPr>
              <a:t>TM-Align module first: no equivalent upstream, licence clear, tests green.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The workflow engineering is in place. What remains is packaging — and that is exactly where this community is strongest.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PlastizymeFinder  ·  Nextflow Summit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355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FA3B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2EC4B6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9875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PlastizymeFinder turns a 20-tool manual protocol for mining plastic-degrading enzymes into one resumable Nextflow command — and carries candidates all the way to a predicted structure.</a:t>
            </a:r>
          </a:p>
        </p:txBody>
      </p:sp>
      <p:sp>
        <p:nvSpPr>
          <p:cNvPr id="6" name="Oval 5"/>
          <p:cNvSpPr/>
          <p:nvPr/>
        </p:nvSpPr>
        <p:spPr>
          <a:xfrm>
            <a:off x="1024128" y="3831335"/>
            <a:ext cx="109728" cy="10972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749039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C7DAE6"/>
                </a:solidFill>
                <a:latin typeface="Calibri"/>
              </a:rPr>
              <a:t>Field metagenome: 83.6 Mb assembled, 31 bins, 2,177 CDS — and 65% of reads unclassified, which is its own finding.</a:t>
            </a:r>
          </a:p>
        </p:txBody>
      </p:sp>
      <p:sp>
        <p:nvSpPr>
          <p:cNvPr id="8" name="Oval 7"/>
          <p:cNvSpPr/>
          <p:nvPr/>
        </p:nvSpPr>
        <p:spPr>
          <a:xfrm>
            <a:off x="1024128" y="4270247"/>
            <a:ext cx="109728" cy="10972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187951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C7DAE6"/>
                </a:solidFill>
                <a:latin typeface="Calibri"/>
              </a:rPr>
              <a:t>47/47 files pass strict-syntax lint; 33 processes green in stub CI; 6 module tests run for real in their containers.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4709159"/>
            <a:ext cx="109728" cy="10972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4626863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C7DAE6"/>
                </a:solidFill>
                <a:latin typeface="Calibri"/>
              </a:rPr>
              <a:t>Every silent failure we found was a config or type issue, not a tool bug.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5349240"/>
            <a:ext cx="1280160" cy="381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623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github.com/Bboy010/PlastizymeFinder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035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FA3B5"/>
                </a:solidFill>
                <a:latin typeface="Calibri"/>
              </a:rPr>
              <a:t>Hongo Koffi Anderson  ·  Ouattara Koffi Nouho  ·  Kouadio Attahoua Ines Estelle  ·  Yao Koffi Olivier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